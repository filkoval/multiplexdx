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43" r:id="rId5"/>
    <p:sldId id="35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CCCF"/>
    <a:srgbClr val="000000"/>
    <a:srgbClr val="CD0061"/>
    <a:srgbClr val="059761"/>
    <a:srgbClr val="FF6600"/>
    <a:srgbClr val="5BC0C7"/>
    <a:srgbClr val="006585"/>
    <a:srgbClr val="D73382"/>
    <a:srgbClr val="FFFFFF"/>
    <a:srgbClr val="F7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1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624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6C40EF-34E4-D254-6EA2-C4FD4B283C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47B96-D2C3-DFFD-0D78-0BF057CC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55AAF-D05B-49CC-9D50-55F0198780F2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1A1D3-F066-3CDF-D1E5-7837D3C1DC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6EBD7-E514-8B9A-804B-F845908716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9DB84C-B44F-44C2-9940-2E02A98A4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7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D08A5-D154-1348-AEB3-F3A8447A1083}" type="datetimeFigureOut">
              <a:rPr lang="sk-SK" smtClean="0"/>
              <a:t>4. 8. 2025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6418C-BA63-8F44-92E8-4E48C59D568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253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6418C-BA63-8F44-92E8-4E48C59D568D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88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89BA-DC38-424B-A809-DD1DBC36E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F96FB-0E44-FE40-BD75-DF1903355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B50E4-657E-2643-A900-7CABE2BF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6443-7F64-4817-A727-0065F2947354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F92F-1337-2148-A557-41EC5884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B19EF-6083-E34A-A653-14CBB474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433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27CC9-A946-2541-AEF7-8CB2762047AD}"/>
              </a:ext>
            </a:extLst>
          </p:cNvPr>
          <p:cNvSpPr/>
          <p:nvPr userDrawn="1"/>
        </p:nvSpPr>
        <p:spPr>
          <a:xfrm>
            <a:off x="605642" y="273132"/>
            <a:ext cx="1211283" cy="10569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89BA-DC38-424B-A809-DD1DBC36E6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370296"/>
            <a:ext cx="7838303" cy="1569660"/>
          </a:xfrm>
        </p:spPr>
        <p:txBody>
          <a:bodyPr anchor="b"/>
          <a:lstStyle>
            <a:lvl1pPr algn="l">
              <a:lnSpc>
                <a:spcPct val="100000"/>
              </a:lnSpc>
              <a:defRPr sz="3200"/>
            </a:lvl1pPr>
          </a:lstStyle>
          <a:p>
            <a:r>
              <a:rPr lang="en-GB"/>
              <a:t>DEVELOPMENT OF QUANTITATIVE </a:t>
            </a:r>
            <a:br>
              <a:rPr lang="en-GB"/>
            </a:br>
            <a:r>
              <a:rPr lang="en-GB"/>
              <a:t>AND MULTIPLEX DIAGNOSTIC </a:t>
            </a:r>
            <a:br>
              <a:rPr lang="en-GB"/>
            </a:br>
            <a:r>
              <a:rPr lang="en-GB"/>
              <a:t>TECHNOLOGIES AND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F96FB-0E44-FE40-BD75-DF19033559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29696" y="4030225"/>
            <a:ext cx="7838303" cy="623662"/>
          </a:xfrm>
        </p:spPr>
        <p:txBody>
          <a:bodyPr>
            <a:noAutofit/>
          </a:bodyPr>
          <a:lstStyle>
            <a:lvl1pPr marL="0" indent="0" algn="l">
              <a:buNone/>
              <a:defRPr sz="2400" b="1" i="0">
                <a:solidFill>
                  <a:schemeClr val="tx1"/>
                </a:solidFill>
                <a:latin typeface="Avenir Next Demi Bold" panose="020B05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Name </a:t>
            </a:r>
            <a:r>
              <a:rPr lang="en-GB" err="1"/>
              <a:t>Surename</a:t>
            </a:r>
            <a:r>
              <a:rPr lang="en-GB"/>
              <a:t>, PhD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B50E4-657E-2643-A900-7CABE2BF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54ED-2D65-46DA-ADD7-C60509B9E3E8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F92F-1337-2148-A557-41EC58845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B19EF-6083-E34A-A653-14CBB474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0066FC-44D7-0448-8408-B04DCB4682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6481" y="3825187"/>
            <a:ext cx="1416937" cy="1265796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7AF19D1-0196-F04D-B473-41D6CB8AE8A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829696" y="4625202"/>
            <a:ext cx="7838303" cy="1031704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521674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F28A-1B15-5C42-813B-40BEB2B9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28A4D-DE40-1441-9498-2690ED821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4A688-214F-E944-9ADA-02DFD7C1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A49C8-FA47-4058-811A-037B9318D481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186AA-8EF0-9E46-920E-ACED8727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21130-857E-C647-96DE-EDAA5C4E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9797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C821-2D5B-8943-AC04-E880F545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136"/>
            <a:ext cx="10515600" cy="946413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ACC66-9F0C-1446-A4E7-1DABC1EBC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FB6B-4EC7-450B-9661-0D29BB7D260A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AD3B-414F-3E4A-ADD7-7325ED02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4A3BE-4D64-0F40-A60D-41560F0F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A3BA23-1FFE-3249-8419-FFCBEFDA2B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6589" y="3076116"/>
            <a:ext cx="2598822" cy="2530600"/>
          </a:xfrm>
        </p:spPr>
        <p:txBody>
          <a:bodyPr/>
          <a:lstStyle/>
          <a:p>
            <a:r>
              <a:rPr lang="sk-SK"/>
              <a:t>Kliknutím na ikonu pridáte obrázok</a:t>
            </a:r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3452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D69F-72F6-2342-B928-98761E95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94FB2-551C-B647-9E63-A1DC1CC7C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9699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B4970-30CF-7946-9AF5-68C8D708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09EA-F28C-4885-97D3-85F92A4F4331}" type="datetime1">
              <a:rPr lang="sk-SK" smtClean="0"/>
              <a:t>4. 8. 2025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D0DCE-A244-194B-8AAD-FBC607F5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78819-202A-7E4B-838D-A498F698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80F8EFF-F6D3-354B-B5BF-C10FF245A88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089568" y="1825625"/>
            <a:ext cx="4265819" cy="4351338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</a:p>
        </p:txBody>
      </p:sp>
    </p:spTree>
    <p:extLst>
      <p:ext uri="{BB962C8B-B14F-4D97-AF65-F5344CB8AC3E}">
        <p14:creationId xmlns:p14="http://schemas.microsoft.com/office/powerpoint/2010/main" val="366301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D99E-A963-2746-845B-E8C79160F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080" y="408843"/>
            <a:ext cx="9378307" cy="1022351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ACBB8-0258-9B4B-873B-180EBD14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57C5C-7D67-A840-AB03-6575BB394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028CD-EDEA-4844-8B7F-8FE0A793B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3C6F58-AB40-A444-BD25-8C5445A40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A21062-44EA-AF4D-8707-C0A1D6CB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918C3-9227-477E-BA5A-CD454254B521}" type="datetime1">
              <a:rPr lang="sk-SK" smtClean="0"/>
              <a:t>4. 8. 2025</a:t>
            </a:fld>
            <a:endParaRPr lang="sk-S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BDE1C-2071-8E4C-B6A4-C69C642D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E2654-0790-1D49-803B-451EF083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3715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5E68-E79A-A344-959E-AD8D0B83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9710E-CBC3-0445-B9B0-495CABC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CBCE-C40C-4177-BE64-6EEA9AFC9DD7}" type="datetime1">
              <a:rPr lang="sk-SK" smtClean="0"/>
              <a:t>4. 8. 2025</a:t>
            </a:fld>
            <a:endParaRPr lang="sk-S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52C22-77F4-C64B-93BD-39E8D4C1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F99CD-6436-7A4A-AC2A-A9FF965E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484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C19AD-CAA1-3B43-9D5D-E113F043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E4D1-27A7-434A-89B8-BFBE42FDB264}" type="datetime1">
              <a:rPr lang="sk-SK" smtClean="0"/>
              <a:t>4. 8. 2025</a:t>
            </a:fld>
            <a:endParaRPr lang="sk-S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803E0-20BC-3841-B8BE-FC4CEC8C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D6DAD-DB09-D442-ADF4-8AA466F1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98687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DD4C-93F7-584C-9471-14946219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41484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8C03-4AD8-0F46-B822-49C265727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14848"/>
            <a:ext cx="6172200" cy="4446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A77A1-0AC2-944B-831A-874DEF16E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76832"/>
            <a:ext cx="3932237" cy="2792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8EE794-1599-044D-B804-C606E94F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60D5-B20A-4CB9-9F1F-091E80E702A2}" type="datetime1">
              <a:rPr lang="sk-SK" smtClean="0"/>
              <a:t>4. 8. 2025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DF79D-6543-304F-B3AC-A56A1591E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FF018-FE09-434D-A481-1F97D86F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1130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0006-5B67-A04C-B890-B628AA13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445741"/>
            <a:ext cx="3932237" cy="12907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C9E96-D4BB-9D4F-842C-5A1D05EAA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93125"/>
            <a:ext cx="6172200" cy="52679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38DD4-0F94-E54D-8007-89ECE2ED2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42054"/>
            <a:ext cx="3932237" cy="30269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CF09-5489-8F4F-BB44-95B1E713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64B8B-9F4B-450D-8CA5-EA9A71405689}" type="datetime1">
              <a:rPr lang="sk-SK" smtClean="0"/>
              <a:t>4. 8. 2025</a:t>
            </a:fld>
            <a:endParaRPr lang="sk-S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D37DB-FB5E-7E40-9B25-66C0F3843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C885F-8998-E44F-8C7B-D27EE9D3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0760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02E46-8CCF-634D-AB99-47FF00901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83BF5-341A-594A-8BC2-A03986CDD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DD913-59B4-AD47-B83F-E0A00A958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6DFBE-4A11-4532-9970-38D01C716EF7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B30CE-4645-2346-9739-3DB5633E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1ECA-EAF1-E843-9638-961D808C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76644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8A91-8267-BE4C-9AD2-81E728C8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05C77-12B6-9F4B-8CF0-49B348D34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D1F8-784E-D443-B4C9-E5999372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F2ADB-88EE-47D6-B603-B7F41FE3B620}" type="datetime1">
              <a:rPr lang="sk-SK" smtClean="0"/>
              <a:t>4. 8. 2025</a:t>
            </a:fld>
            <a:endParaRPr lang="sk-S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3E7F4-2ACA-2347-BF81-A8BA6E0D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779D4-6DB4-C14B-8D38-1E666769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99634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82DC-80E9-A0AB-D97C-E450BA86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676" y="320975"/>
            <a:ext cx="5939473" cy="7484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70DC97-0075-E02B-B7FD-CAD0950E6E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2325" y="1225041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2B44A070-3F8C-752A-09C9-E1254E6192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72963" y="1225041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D199544-67CC-43C7-312B-D178271D9A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27602" y="1222461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4F4F96F-E71D-2CA5-A72A-17343EB78B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9753" y="853082"/>
            <a:ext cx="3088480" cy="2825218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2713C2-5A18-A9B2-F8E6-4FA5D611D01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8005" y="4110307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7BBF719C-A5C5-DB3C-1D96-70B5FFE7E5A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8643" y="4110307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6E0FBA0D-043F-7C3B-EBEC-A4878B30F2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23282" y="4107727"/>
            <a:ext cx="2408238" cy="240665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9309B4D6-125F-0BE4-8BEC-E5C68AB405E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85433" y="3691855"/>
            <a:ext cx="3088480" cy="282521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67D99-0D83-7226-9539-F873829B90E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69863" y="1222375"/>
            <a:ext cx="455612" cy="2406650"/>
          </a:xfrm>
        </p:spPr>
        <p:txBody>
          <a:bodyPr vert="vert27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DED2CA-6854-525B-4A7E-B817E52ACF8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9863" y="4107727"/>
            <a:ext cx="455612" cy="2406650"/>
          </a:xfrm>
        </p:spPr>
        <p:txBody>
          <a:bodyPr vert="vert27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6197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6CB5-6E1D-B244-0DB2-816A33E6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1F278-C3A2-8405-B2F3-B6009D98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5171-3EA8-4C83-807B-2D1ADB000E0D}" type="datetime1">
              <a:rPr lang="sk-SK" smtClean="0"/>
              <a:t>4. 8. 2025</a:t>
            </a:fld>
            <a:endParaRPr lang="sk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160B8-2A02-4BFE-0E27-88E3A71792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13478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0729-78C1-7A46-B28A-4AB4A1163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5619" y="4628630"/>
            <a:ext cx="10160759" cy="718658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Thank You</a:t>
            </a:r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2F4DE-D382-5C4E-8DBD-281358C0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89565-942A-4313-8B1A-F7B0D5A346E1}" type="datetime1">
              <a:rPr lang="sk-SK" smtClean="0"/>
              <a:t>4. 8. 2025</a:t>
            </a:fld>
            <a:endParaRPr lang="sk-S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9690-EF39-3344-A400-3B64F1C42D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pPr/>
              <a:t>‹#›</a:t>
            </a:fld>
            <a:endParaRPr lang="sk-SK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C2B3BF34-24EC-DA44-B0E4-5BF4BBC079C1}"/>
              </a:ext>
            </a:extLst>
          </p:cNvPr>
          <p:cNvSpPr/>
          <p:nvPr userDrawn="1"/>
        </p:nvSpPr>
        <p:spPr>
          <a:xfrm rot="5400000">
            <a:off x="4763386" y="1739655"/>
            <a:ext cx="2665226" cy="2297609"/>
          </a:xfrm>
          <a:prstGeom prst="hexag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63518-6F0D-C64E-9EA0-212B9233CD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1922" y="2287133"/>
            <a:ext cx="1228151" cy="10971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376012-3169-FB49-8784-AB8B192EA063}"/>
              </a:ext>
            </a:extLst>
          </p:cNvPr>
          <p:cNvSpPr/>
          <p:nvPr userDrawn="1"/>
        </p:nvSpPr>
        <p:spPr>
          <a:xfrm>
            <a:off x="586854" y="368489"/>
            <a:ext cx="9144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409770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07800-AA11-5447-94A0-CD845543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676" y="591750"/>
            <a:ext cx="9513124" cy="71865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GB"/>
              <a:t>Master slide Title</a:t>
            </a:r>
            <a:endParaRPr lang="sk-S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4D7B9-9E70-5F43-88C3-0D9BD53CC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0676" y="1692876"/>
            <a:ext cx="9513124" cy="4484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5D1DB-E728-1747-B76D-8637AACB6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venir Next" panose="020B0503020202020204" pitchFamily="34" charset="0"/>
              </a:defRPr>
            </a:lvl1pPr>
          </a:lstStyle>
          <a:p>
            <a:fld id="{22D75171-3EA8-4C83-807B-2D1ADB000E0D}" type="datetime1">
              <a:rPr lang="sk-SK" smtClean="0"/>
              <a:t>4. 8. 2025</a:t>
            </a:fld>
            <a:endParaRPr lang="sk-S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4AA08-E0A0-E545-94F2-BDF425F66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" panose="020B0503020202020204" pitchFamily="34" charset="0"/>
              </a:defRPr>
            </a:lvl1pPr>
          </a:lstStyle>
          <a:p>
            <a:fld id="{880BE684-EFE7-214D-9538-19BD6D34DE34}" type="slidenum">
              <a:rPr lang="sk-SK" smtClean="0"/>
              <a:pPr/>
              <a:t>‹#›</a:t>
            </a:fld>
            <a:endParaRPr lang="sk-S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1F74B-A78C-0D41-A5DD-3D8E960BD8F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38200" y="446253"/>
            <a:ext cx="704603" cy="62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0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58" r:id="rId12"/>
    <p:sldLayoutId id="2147483662" r:id="rId13"/>
    <p:sldLayoutId id="2147483663" r:id="rId14"/>
    <p:sldLayoutId id="214748366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Next Medium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800" b="0" i="0" kern="1200">
          <a:solidFill>
            <a:schemeClr val="tx2"/>
          </a:solidFill>
          <a:latin typeface="Avenir Next" panose="020B05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00" b="0" i="0" kern="1200">
          <a:solidFill>
            <a:schemeClr val="tx2"/>
          </a:solidFill>
          <a:latin typeface="Avenir Next" panose="020B05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venir Next" panose="020B05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venir Next" panose="020B05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venir Next" panose="020B05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3BA5-9323-F7AC-1284-700F6F1D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1904AF-B35F-C992-38D8-07B5F2984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534"/>
            <a:ext cx="9144000" cy="1006429"/>
          </a:xfrm>
        </p:spPr>
        <p:txBody>
          <a:bodyPr/>
          <a:lstStyle/>
          <a:p>
            <a:r>
              <a:rPr lang="en-GB" sz="4600" noProof="0" dirty="0"/>
              <a:t>AIpredict – project update</a:t>
            </a:r>
            <a:br>
              <a:rPr lang="en-GB" sz="4000" noProof="0" dirty="0"/>
            </a:br>
            <a:r>
              <a:rPr lang="en-GB" sz="2000" dirty="0"/>
              <a:t>28</a:t>
            </a:r>
            <a:r>
              <a:rPr lang="en-GB" sz="2000" baseline="30000" dirty="0"/>
              <a:t>th</a:t>
            </a:r>
            <a:r>
              <a:rPr lang="en-GB" sz="2000" dirty="0"/>
              <a:t> </a:t>
            </a:r>
            <a:r>
              <a:rPr lang="en-GB" sz="2000" noProof="0" dirty="0"/>
              <a:t>July 2025 </a:t>
            </a:r>
          </a:p>
        </p:txBody>
      </p:sp>
      <p:pic>
        <p:nvPicPr>
          <p:cNvPr id="3" name="Obrázok 2" descr="Obrázok, na ktorom je text, písmo, snímka obrazovky, rad&#10;&#10;Automaticky generovaný popis">
            <a:extLst>
              <a:ext uri="{FF2B5EF4-FFF2-40B4-BE49-F238E27FC236}">
                <a16:creationId xmlns:a16="http://schemas.microsoft.com/office/drawing/2014/main" id="{404B613B-3191-0746-AFC8-83C9E8109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5206"/>
            <a:ext cx="12192000" cy="913686"/>
          </a:xfrm>
          <a:prstGeom prst="rect">
            <a:avLst/>
          </a:prstGeom>
        </p:spPr>
      </p:pic>
      <p:sp>
        <p:nvSpPr>
          <p:cNvPr id="4" name="BlokTextu 3">
            <a:extLst>
              <a:ext uri="{FF2B5EF4-FFF2-40B4-BE49-F238E27FC236}">
                <a16:creationId xmlns:a16="http://schemas.microsoft.com/office/drawing/2014/main" id="{037E9F18-2454-FED3-2BEF-686806FE1BF6}"/>
              </a:ext>
            </a:extLst>
          </p:cNvPr>
          <p:cNvSpPr txBox="1"/>
          <p:nvPr/>
        </p:nvSpPr>
        <p:spPr>
          <a:xfrm>
            <a:off x="333532" y="5486400"/>
            <a:ext cx="115186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i="1" noProof="0">
                <a:latin typeface="Calibri"/>
              </a:rPr>
              <a:t>„„Funded by the EU </a:t>
            </a:r>
            <a:r>
              <a:rPr lang="en-GB" sz="1600" i="1" noProof="0" err="1">
                <a:latin typeface="Calibri"/>
              </a:rPr>
              <a:t>NextGenerationEU</a:t>
            </a:r>
            <a:r>
              <a:rPr lang="en-GB" sz="1600" i="1" noProof="0">
                <a:latin typeface="Calibri"/>
              </a:rPr>
              <a:t> through the Recovery and Resilience Plan for Slovakia under the project No. 09I03-03-V03-00101“</a:t>
            </a:r>
            <a:r>
              <a:rPr lang="en-GB" sz="1600" noProof="0">
                <a:latin typeface="Calibri"/>
              </a:rPr>
              <a:t> </a:t>
            </a:r>
            <a:r>
              <a:rPr lang="en-GB" sz="1600" noProof="0">
                <a:latin typeface="Calibri"/>
                <a:cs typeface="Calibri"/>
              </a:rPr>
              <a:t>​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00F6-5C7C-E63C-E657-896FCC93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en-GB" noProof="0" smtClean="0"/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1843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FFD8D3-3686-470B-5B3B-395EB8E83AEE}"/>
              </a:ext>
            </a:extLst>
          </p:cNvPr>
          <p:cNvSpPr txBox="1">
            <a:spLocks/>
          </p:cNvSpPr>
          <p:nvPr/>
        </p:nvSpPr>
        <p:spPr>
          <a:xfrm>
            <a:off x="2014960" y="508274"/>
            <a:ext cx="8843540" cy="5023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venir Next Medium" panose="020B0503020202020204" pitchFamily="34" charset="0"/>
                <a:ea typeface="+mj-ea"/>
                <a:cs typeface="+mj-cs"/>
              </a:defRPr>
            </a:lvl1pPr>
          </a:lstStyle>
          <a:p>
            <a:r>
              <a:rPr lang="sk-SK" sz="3000" dirty="0"/>
              <a:t>Integration of EcoTyper framework and CEs application</a:t>
            </a:r>
            <a:endParaRPr lang="en-GB" sz="30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F41C9-3CFD-5984-B62C-9A41943A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BE684-EFE7-214D-9538-19BD6D34DE34}" type="slidenum">
              <a:rPr lang="sk-SK" smtClean="0"/>
              <a:t>2</a:t>
            </a:fld>
            <a:endParaRPr lang="sk-S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723A9-3BA7-47DE-5475-90382DB1227C}"/>
              </a:ext>
            </a:extLst>
          </p:cNvPr>
          <p:cNvSpPr txBox="1"/>
          <p:nvPr/>
        </p:nvSpPr>
        <p:spPr>
          <a:xfrm>
            <a:off x="270369" y="1322383"/>
            <a:ext cx="8012393" cy="347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800"/>
              </a:spcAft>
            </a:pPr>
            <a:r>
              <a:rPr lang="sk-SK" sz="2000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Cancer type classification challanges:</a:t>
            </a:r>
          </a:p>
          <a:p>
            <a:pPr lvl="0" algn="just">
              <a:spcAft>
                <a:spcPts val="600"/>
              </a:spcAft>
            </a:pP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  <a:r>
              <a:rPr lang="sk-SK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Standard techniques </a:t>
            </a: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(PAM50,...) – unable to recognise tumor</a:t>
            </a:r>
          </a:p>
          <a:p>
            <a:pPr lvl="0" algn="just">
              <a:spcAft>
                <a:spcPts val="600"/>
              </a:spcAft>
            </a:pP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	microenvironment and intra‐tumoral heterogeneity</a:t>
            </a:r>
          </a:p>
          <a:p>
            <a:pPr lvl="0" algn="just">
              <a:lnSpc>
                <a:spcPct val="150000"/>
              </a:lnSpc>
              <a:spcAft>
                <a:spcPts val="600"/>
              </a:spcAft>
            </a:pP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  <a:r>
              <a:rPr lang="sk-SK" b="1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Machine learning frameworks </a:t>
            </a: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(EcoTyper,...)</a:t>
            </a:r>
          </a:p>
          <a:p>
            <a:pPr marL="1200150" lvl="2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allows</a:t>
            </a:r>
            <a:r>
              <a:rPr lang="en-US" dirty="0">
                <a:solidFill>
                  <a:srgbClr val="000000"/>
                </a:solidFill>
              </a:rPr>
              <a:t> identification of interactions </a:t>
            </a:r>
            <a:r>
              <a:rPr lang="sk-SK" dirty="0">
                <a:solidFill>
                  <a:srgbClr val="000000"/>
                </a:solidFill>
              </a:rPr>
              <a:t>between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sk-SK" dirty="0">
                <a:solidFill>
                  <a:srgbClr val="000000"/>
                </a:solidFill>
              </a:rPr>
              <a:t>various </a:t>
            </a:r>
            <a:r>
              <a:rPr lang="en-US" dirty="0">
                <a:solidFill>
                  <a:srgbClr val="000000"/>
                </a:solidFill>
              </a:rPr>
              <a:t>cell populations</a:t>
            </a:r>
            <a:r>
              <a:rPr lang="sk-SK" dirty="0">
                <a:solidFill>
                  <a:srgbClr val="000000"/>
                </a:solidFill>
              </a:rPr>
              <a:t> across</a:t>
            </a:r>
            <a:r>
              <a:rPr lang="en-US" dirty="0">
                <a:solidFill>
                  <a:srgbClr val="000000"/>
                </a:solidFill>
              </a:rPr>
              <a:t> tumor</a:t>
            </a:r>
            <a:r>
              <a:rPr lang="sk-SK" dirty="0">
                <a:solidFill>
                  <a:srgbClr val="000000"/>
                </a:solidFill>
              </a:rPr>
              <a:t> and </a:t>
            </a:r>
            <a:r>
              <a:rPr lang="en-US" dirty="0">
                <a:solidFill>
                  <a:srgbClr val="000000"/>
                </a:solidFill>
              </a:rPr>
              <a:t>stroma</a:t>
            </a:r>
            <a:endParaRPr lang="sk-SK" dirty="0">
              <a:solidFill>
                <a:srgbClr val="000000"/>
              </a:solidFill>
            </a:endParaRPr>
          </a:p>
          <a:p>
            <a:pPr marL="1200150" lvl="2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sk-SK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Beside cell types, i</a:t>
            </a:r>
            <a:r>
              <a:rPr lang="sk-SK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dentifies also </a:t>
            </a:r>
            <a:r>
              <a:rPr lang="sk-SK" b="1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cellular states </a:t>
            </a:r>
            <a:r>
              <a:rPr lang="sk-SK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and </a:t>
            </a:r>
            <a:r>
              <a:rPr lang="sk-SK" b="1" kern="100" dirty="0">
                <a:solidFill>
                  <a:srgbClr val="000000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carcinoma ecotypes</a:t>
            </a:r>
            <a:endParaRPr lang="sk-SK" kern="100" dirty="0">
              <a:solidFill>
                <a:srgbClr val="000000"/>
              </a:solidFill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1200150" lvl="2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kern="100" dirty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identifying novel prognostic biomarkers and biomarkers that predict immunotherapy response</a:t>
            </a:r>
            <a:endParaRPr lang="sk-SK" kern="100" dirty="0">
              <a:solidFill>
                <a:srgbClr val="000000"/>
              </a:solidFill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A3808C78-15D1-3241-F953-32AA00DB7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964" y="1827219"/>
            <a:ext cx="437596" cy="437596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57D8A571-7B73-FBEB-3A51-27A01D895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666" y="2663321"/>
            <a:ext cx="397977" cy="3979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C01176-9C12-1CC5-96B0-224D55D5E0FC}"/>
              </a:ext>
            </a:extLst>
          </p:cNvPr>
          <p:cNvSpPr txBox="1"/>
          <p:nvPr/>
        </p:nvSpPr>
        <p:spPr>
          <a:xfrm>
            <a:off x="383846" y="5044441"/>
            <a:ext cx="7898916" cy="1234440"/>
          </a:xfrm>
          <a:prstGeom prst="rect">
            <a:avLst/>
          </a:prstGeom>
          <a:solidFill>
            <a:schemeClr val="tx1"/>
          </a:solidFill>
        </p:spPr>
        <p:txBody>
          <a:bodyPr wrap="square" lIns="432000" tIns="180000" rIns="576000" bIns="180000">
            <a:noAutofit/>
          </a:bodyPr>
          <a:lstStyle/>
          <a:p>
            <a:pPr lvl="0" algn="just"/>
            <a:r>
              <a:rPr lang="en-US" b="1" dirty="0">
                <a:solidFill>
                  <a:schemeClr val="bg2"/>
                </a:solidFill>
              </a:rPr>
              <a:t>Carcinoma ecotypes</a:t>
            </a:r>
            <a:r>
              <a:rPr lang="sk-SK" b="1" dirty="0">
                <a:solidFill>
                  <a:schemeClr val="bg2"/>
                </a:solidFill>
              </a:rPr>
              <a:t> (CEs) =</a:t>
            </a:r>
            <a:r>
              <a:rPr lang="en-US" dirty="0">
                <a:solidFill>
                  <a:schemeClr val="bg2"/>
                </a:solidFill>
              </a:rPr>
              <a:t> A categorization of tumor microenvironments based on clustering of cellular states,</a:t>
            </a:r>
            <a:r>
              <a:rPr lang="sk-SK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demonstrating strong prognostic relevance and potential for use in personalized medicine.</a:t>
            </a:r>
            <a:endParaRPr lang="sk-SK" kern="100" dirty="0">
              <a:solidFill>
                <a:schemeClr val="bg2"/>
              </a:solidFill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02DA8C-8C5C-C698-EF5F-89BCA9E75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930" y="1547057"/>
            <a:ext cx="3210147" cy="32496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6AF37D-1AC9-FE8F-BB56-3FE2C806E7E6}"/>
              </a:ext>
            </a:extLst>
          </p:cNvPr>
          <p:cNvSpPr txBox="1"/>
          <p:nvPr/>
        </p:nvSpPr>
        <p:spPr>
          <a:xfrm>
            <a:off x="8686795" y="4817940"/>
            <a:ext cx="29732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</a:pPr>
            <a:r>
              <a:rPr lang="en-US" dirty="0"/>
              <a:t>Overlap between the 10 carcinoma ecotypes (CEs) and the 5 PAM50 subtypes, with labels from both classification schemes shown. </a:t>
            </a:r>
            <a:r>
              <a:rPr lang="sk-SK" sz="1600" kern="100" dirty="0">
                <a:solidFill>
                  <a:schemeClr val="tx2"/>
                </a:solidFill>
                <a:ea typeface="Aptos" panose="020B00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46955985"/>
      </p:ext>
    </p:extLst>
  </p:cSld>
  <p:clrMapOvr>
    <a:masterClrMapping/>
  </p:clrMapOvr>
</p:sld>
</file>

<file path=ppt/theme/theme1.xml><?xml version="1.0" encoding="utf-8"?>
<a:theme xmlns:a="http://schemas.openxmlformats.org/drawingml/2006/main" name="MDX theme">
  <a:themeElements>
    <a:clrScheme name="MDX colors 2">
      <a:dk1>
        <a:srgbClr val="1D5B77"/>
      </a:dk1>
      <a:lt1>
        <a:srgbClr val="FFFFFF"/>
      </a:lt1>
      <a:dk2>
        <a:srgbClr val="2B383F"/>
      </a:dk2>
      <a:lt2>
        <a:srgbClr val="FFFFFF"/>
      </a:lt2>
      <a:accent1>
        <a:srgbClr val="8ACCCF"/>
      </a:accent1>
      <a:accent2>
        <a:srgbClr val="F13A28"/>
      </a:accent2>
      <a:accent3>
        <a:srgbClr val="2D95C4"/>
      </a:accent3>
      <a:accent4>
        <a:srgbClr val="FFC000"/>
      </a:accent4>
      <a:accent5>
        <a:srgbClr val="A2F3F8"/>
      </a:accent5>
      <a:accent6>
        <a:srgbClr val="33A9DD"/>
      </a:accent6>
      <a:hlink>
        <a:srgbClr val="1D5B77"/>
      </a:hlink>
      <a:folHlink>
        <a:srgbClr val="1D5B77"/>
      </a:folHlink>
    </a:clrScheme>
    <a:fontScheme name="Avenir Next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3E0E7F8B-5C68-4729-8039-02FD0E1E513D}" vid="{D9C5B880-58E8-4381-BE23-BBB944EAB3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A63CA1FCDF3754E82D9CD447D5D758A" ma:contentTypeVersion="21" ma:contentTypeDescription="Umožňuje vytvoriť nový dokument." ma:contentTypeScope="" ma:versionID="5645c593c26cafc14183d5aa14cc1aec">
  <xsd:schema xmlns:xsd="http://www.w3.org/2001/XMLSchema" xmlns:xs="http://www.w3.org/2001/XMLSchema" xmlns:p="http://schemas.microsoft.com/office/2006/metadata/properties" xmlns:ns2="037d7dbb-f502-49cb-886f-d4a31c3bffa2" xmlns:ns3="52120868-a8cb-42b6-adc4-6bd596e78f4b" targetNamespace="http://schemas.microsoft.com/office/2006/metadata/properties" ma:root="true" ma:fieldsID="4c1c406c665d88532b6cc60af0c49335" ns2:_="" ns3:_="">
    <xsd:import namespace="037d7dbb-f502-49cb-886f-d4a31c3bffa2"/>
    <xsd:import namespace="52120868-a8cb-42b6-adc4-6bd596e78f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dat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d7dbb-f502-49cb-886f-d4a31c3bff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date" ma:index="20" nillable="true" ma:displayName="date" ma:default="[today]" ma:format="DateTime" ma:internalName="date">
      <xsd:simpleType>
        <xsd:restriction base="dms:DateTime"/>
      </xsd:simpleType>
    </xsd:element>
    <xsd:element name="lcf76f155ced4ddcb4097134ff3c332f" ma:index="22" nillable="true" ma:taxonomy="true" ma:internalName="lcf76f155ced4ddcb4097134ff3c332f" ma:taxonomyFieldName="MediaServiceImageTags" ma:displayName="Značky obrázka" ma:readOnly="false" ma:fieldId="{5cf76f15-5ced-4ddc-b409-7134ff3c332f}" ma:taxonomyMulti="true" ma:sspId="f57423f1-1e20-4ad2-9461-fde62a4d22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20868-a8cb-42b6-adc4-6bd596e78f4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Zdieľa sa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Zdieľané s podrobnosťa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a3dd849-54ff-4e0a-9bf3-6bb6d5eb14af}" ma:internalName="TaxCatchAll" ma:showField="CatchAllData" ma:web="52120868-a8cb-42b6-adc4-6bd596e78f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20868-a8cb-42b6-adc4-6bd596e78f4b" xsi:nil="true"/>
    <lcf76f155ced4ddcb4097134ff3c332f xmlns="037d7dbb-f502-49cb-886f-d4a31c3bffa2">
      <Terms xmlns="http://schemas.microsoft.com/office/infopath/2007/PartnerControls"/>
    </lcf76f155ced4ddcb4097134ff3c332f>
    <date xmlns="037d7dbb-f502-49cb-886f-d4a31c3bffa2">2024-10-23T11:44:52+00:00</date>
  </documentManagement>
</p:properties>
</file>

<file path=customXml/itemProps1.xml><?xml version="1.0" encoding="utf-8"?>
<ds:datastoreItem xmlns:ds="http://schemas.openxmlformats.org/officeDocument/2006/customXml" ds:itemID="{F973BA5B-9452-4C5C-BF88-F0D202B89675}">
  <ds:schemaRefs>
    <ds:schemaRef ds:uri="037d7dbb-f502-49cb-886f-d4a31c3bffa2"/>
    <ds:schemaRef ds:uri="52120868-a8cb-42b6-adc4-6bd596e78f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AFC153B-356C-4FA8-B3F2-C6CAFB66F4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122EA0-5F53-4EBA-9FDF-3515AB9990FE}">
  <ds:schemaRefs>
    <ds:schemaRef ds:uri="037d7dbb-f502-49cb-886f-d4a31c3bffa2"/>
    <ds:schemaRef ds:uri="52120868-a8cb-42b6-adc4-6bd596e78f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3258</TotalTime>
  <Words>157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Avenir Next</vt:lpstr>
      <vt:lpstr>Avenir Next Demi Bold</vt:lpstr>
      <vt:lpstr>Avenir Next Medium</vt:lpstr>
      <vt:lpstr>Calibri</vt:lpstr>
      <vt:lpstr>MDX theme</vt:lpstr>
      <vt:lpstr>AIpredict – project update 28th July 2025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Petraninová │ MultiplexDX</dc:creator>
  <cp:lastModifiedBy>Laura Filková</cp:lastModifiedBy>
  <cp:revision>11</cp:revision>
  <dcterms:created xsi:type="dcterms:W3CDTF">2024-10-11T07:04:43Z</dcterms:created>
  <dcterms:modified xsi:type="dcterms:W3CDTF">2025-08-04T11:24:24Z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0x010100AA63CA1FCDF3754E82D9CD447D5D758A</vt:lpwstr>
  </property>
</Properties>
</file>